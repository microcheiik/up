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embeddedFontLst>
    <p:embeddedFont>
      <p:font typeface="Saira Medium" pitchFamily="34" charset="0"/>
      <p:regular r:id="rId13"/>
    </p:embeddedFont>
    <p:embeddedFont>
      <p:font typeface="Saira Medium" pitchFamily="34" charset="-122"/>
      <p:regular r:id="rId14"/>
    </p:embeddedFont>
    <p:embeddedFont>
      <p:font typeface="Saira Medium" pitchFamily="34" charset="-120"/>
      <p:regular r:id="rId15"/>
    </p:embeddedFont>
    <p:embeddedFont>
      <p:font typeface="Roboto" panose="02000000000000000000" pitchFamily="34" charset="0"/>
      <p:regular r:id="rId16"/>
    </p:embeddedFont>
    <p:embeddedFont>
      <p:font typeface="Roboto" panose="02000000000000000000" pitchFamily="34" charset="-122"/>
      <p:regular r:id="rId17"/>
    </p:embeddedFont>
    <p:embeddedFont>
      <p:font typeface="Roboto" panose="02000000000000000000" pitchFamily="34" charset="-12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9565" y="1254760"/>
            <a:ext cx="8272145" cy="852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altLang="en-US" sz="3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Учебная практика</a:t>
            </a:r>
            <a:endParaRPr lang="ru-RU" altLang="en-US" sz="320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561455" y="3756660"/>
            <a:ext cx="17208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200">
                <a:solidFill>
                  <a:schemeClr val="bg1"/>
                </a:solidFill>
              </a:rPr>
              <a:t>Козульков Н.С. ИСП-21</a:t>
            </a:r>
            <a:endParaRPr lang="ru-RU" altLang="en-US" sz="1200">
              <a:solidFill>
                <a:schemeClr val="bg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049895" y="4845050"/>
            <a:ext cx="1052830" cy="257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613177"/>
            <a:ext cx="5747965" cy="380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Этап 1: Техническое задание и цели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085" y="1068070"/>
            <a:ext cx="2005965" cy="2298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Что было </a:t>
            </a: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сделано</a:t>
            </a:r>
            <a:endParaRPr lang="en-US" sz="160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6085" y="1372235"/>
            <a:ext cx="7479665" cy="13747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Определена предметная область и сформулированы функциональные требования к системе</a:t>
            </a:r>
            <a:endParaRPr lang="en-US" sz="140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Составлена структура ТЗ с ключевыми разделами: цели, требования, ограничения</a:t>
            </a:r>
            <a:endParaRPr lang="en-US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049895" y="4845050"/>
            <a:ext cx="1052830" cy="257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26901"/>
            <a:ext cx="6817072" cy="3253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Этап </a:t>
            </a:r>
            <a:r>
              <a:rPr lang="en-US" sz="2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2: Функциональное моделирование в Ramus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805086"/>
            <a:ext cx="7183562" cy="288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Методология IDEF0 использована для формализации бизнес-процессов системы. Ramus позволил наглядно представить потоки данных и управляющие воздействия.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703638" y="2203996"/>
            <a:ext cx="1878211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Ключевые диаграммы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03638" y="2443088"/>
            <a:ext cx="3464793" cy="7756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Контекстная диаграмма А0</a:t>
            </a:r>
            <a:r>
              <a:rPr lang="en-US" sz="8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границы системы и внешние сущности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Декомпозиция А</a:t>
            </a:r>
            <a:r>
              <a:rPr lang="ru-RU" altLang="en-US" sz="8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</a:t>
            </a:r>
            <a:r>
              <a:rPr lang="en-US" sz="8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детализация внутренних процессов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Определены входы, выходы, управления и механизмы для каждого блока</a:t>
            </a:r>
            <a:endParaRPr lang="en-US" sz="800" dirty="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0" y="1605915"/>
            <a:ext cx="4406265" cy="244983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8049895" y="4845050"/>
            <a:ext cx="1052830" cy="257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6238"/>
            <a:ext cx="7720236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Этап 3: Объектное моделирование в StarUML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349" y="1085776"/>
            <a:ext cx="2497336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Построенные диаграммы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349" y="1410370"/>
            <a:ext cx="2673028" cy="1289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 Case</a:t>
            </a:r>
            <a:r>
              <a:rPr lang="en-US" sz="10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варианты использования и роли пользователей системы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Диаграмма классов</a:t>
            </a:r>
            <a:r>
              <a:rPr lang="en-US" sz="10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структура объектов, атрибуты и методы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Связи между классами</a:t>
            </a:r>
            <a:r>
              <a:rPr lang="en-US" sz="10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ассоциации, </a:t>
            </a:r>
            <a:r>
              <a:rPr lang="en-US" sz="100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наследование, агрегация</a:t>
            </a:r>
            <a:endParaRPr lang="en-US" sz="1000" dirty="0">
              <a:solidFill>
                <a:schemeClr val="bg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ru-RU" altLang="en-US" sz="1200" dirty="0">
                <a:solidFill>
                  <a:schemeClr val="bg1"/>
                </a:solidFill>
              </a:rPr>
              <a:t>и другие</a:t>
            </a:r>
            <a:endParaRPr lang="ru-RU" alt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349" y="2808089"/>
            <a:ext cx="2673028" cy="8033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StarUML обеспечил строгое соответствие стандартам UML 2.5 и позволил проверить целостность модели до начала кодирования.</a:t>
            </a:r>
            <a:endParaRPr lang="en-US" sz="10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049895" y="4845050"/>
            <a:ext cx="1052830" cy="257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430" y="410845"/>
            <a:ext cx="5509260" cy="685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Этап 4: Разработка и контроль версий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744414" y="3735512"/>
            <a:ext cx="6112371" cy="1034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Схема отражает структуру ветвления Git, использованную в ходе разработки: каждая ветка соответствует этапу Agile-спринта.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744414" y="3939555"/>
            <a:ext cx="1516335" cy="1280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Организация работы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744414" y="4114949"/>
            <a:ext cx="2727647" cy="3433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Именованные ветки по этапам Agile-спринтов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Разделение на </a:t>
            </a:r>
            <a:r>
              <a:rPr lang="en-US" sz="6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веб-сервис</a:t>
            </a: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(backend) и </a:t>
            </a:r>
            <a:r>
              <a:rPr lang="en-US" sz="60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фронтенд-приложение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Регулярные коммиты с осмысленными сообщениями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76701" y="3939555"/>
            <a:ext cx="1481658" cy="1280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76701" y="4114949"/>
            <a:ext cx="2727647" cy="3433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Чистая история коммитов с понятной структурой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Возможность отката к любой версии проекта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Готовность к командной разработке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4676701" y="4511576"/>
            <a:ext cx="2727647" cy="333077"/>
          </a:xfrm>
          <a:prstGeom prst="roundRect">
            <a:avLst>
              <a:gd name="adj" fmla="val 22146"/>
            </a:avLst>
          </a:prstGeom>
          <a:solidFill>
            <a:srgbClr val="022349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8630" y="4618434"/>
            <a:ext cx="102394" cy="819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942954" y="4574679"/>
            <a:ext cx="2379464" cy="2068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📎</a:t>
            </a:r>
            <a:r>
              <a:rPr lang="en-US" sz="600" b="1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Макет:</a:t>
            </a:r>
            <a:r>
              <a:rPr lang="en-US" sz="6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Замените на схему структуры репозитория и веток Git.</a:t>
            </a:r>
            <a:endParaRPr lang="en-US" sz="600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8049895" y="4845050"/>
            <a:ext cx="1052830" cy="257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165" y="328295"/>
            <a:ext cx="7874635" cy="443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Итоги и результаты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685984" y="1041663"/>
            <a:ext cx="2290465" cy="1747317"/>
          </a:xfrm>
          <a:prstGeom prst="roundRect">
            <a:avLst>
              <a:gd name="adj" fmla="val 730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4" name="Shape 1"/>
          <p:cNvSpPr/>
          <p:nvPr/>
        </p:nvSpPr>
        <p:spPr>
          <a:xfrm>
            <a:off x="6267634" y="1041663"/>
            <a:ext cx="2290465" cy="1747317"/>
          </a:xfrm>
          <a:prstGeom prst="roundRect">
            <a:avLst>
              <a:gd name="adj" fmla="val 730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197610"/>
            <a:ext cx="2289810" cy="2216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Готов</a:t>
            </a:r>
            <a:r>
              <a:rPr lang="ru-RU" alt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ое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</a:t>
            </a:r>
            <a:r>
              <a:rPr lang="ru-RU" alt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ТЗ</a:t>
            </a:r>
            <a:endParaRPr lang="ru-RU" altLang="en-US" sz="1350" dirty="0">
              <a:solidFill>
                <a:srgbClr val="E5E0D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504315"/>
            <a:ext cx="2289175" cy="9074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Завершённ</a:t>
            </a:r>
            <a:r>
              <a:rPr lang="ru-RU" alt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ое</a:t>
            </a: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ru-RU" alt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ТЗ </a:t>
            </a: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по индивидуальной теме, п</a:t>
            </a:r>
            <a:r>
              <a:rPr lang="ru-RU" alt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о ГОСТ 19.201-78</a:t>
            </a:r>
            <a:endParaRPr lang="ru-RU" altLang="en-US" sz="110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3427279" y="1041663"/>
            <a:ext cx="2290465" cy="1747317"/>
          </a:xfrm>
          <a:prstGeom prst="roundRect">
            <a:avLst>
              <a:gd name="adj" fmla="val 730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32175" y="1201420"/>
            <a:ext cx="2284730" cy="4432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alt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Интеграция артефактов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32175" y="1504315"/>
            <a:ext cx="2284730" cy="9074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Успешная интеграция IDEF0-диаграмм, UML-моделей, кода и проектной документации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04305" y="1201420"/>
            <a:ext cx="1816100" cy="2216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🚀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Масштабируемость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80785" y="1508125"/>
            <a:ext cx="226695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Архитектура </a:t>
            </a:r>
            <a:r>
              <a:rPr lang="ru-RU" alt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готова </a:t>
            </a: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к дальнейшему развитию, масштабированию и технической поддержке</a:t>
            </a:r>
            <a:endParaRPr lang="en-US" sz="110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8049895" y="4845050"/>
            <a:ext cx="1052830" cy="257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1794</Words>
  <Application>WPS Presentation</Application>
  <PresentationFormat>On-screen Show (16:9)</PresentationFormat>
  <Paragraphs>64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Saira Medium</vt:lpstr>
      <vt:lpstr>Saira Medium</vt:lpstr>
      <vt:lpstr>Saira Medium</vt:lpstr>
      <vt:lpstr>Roboto</vt:lpstr>
      <vt:lpstr>Roboto</vt:lpstr>
      <vt:lpstr>Roboto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МИЛКАН</cp:lastModifiedBy>
  <cp:revision>2</cp:revision>
  <dcterms:created xsi:type="dcterms:W3CDTF">2026-06-10T09:46:00Z</dcterms:created>
  <dcterms:modified xsi:type="dcterms:W3CDTF">2026-06-10T10:00:05Z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60033D3C8CE1452BB21E6B5BFBA8E64D_12</vt:lpwstr>
  </property>
  <property fmtid="{D5CDD505-2E9C-101B-9397-08002B2CF9AE}" pid="3" name="KSOProductBuildVer">
    <vt:lpwstr>1049-12.1.0.26880</vt:lpwstr>
  </property>
</Properties>
</file>